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Oswald Bold" charset="1" panose="00000800000000000000"/>
      <p:regular r:id="rId15"/>
    </p:embeddedFont>
    <p:embeddedFont>
      <p:font typeface="DM Sans Bold" charset="1" panose="00000000000000000000"/>
      <p:regular r:id="rId16"/>
    </p:embeddedFont>
    <p:embeddedFont>
      <p:font typeface="DM Sans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659121">
            <a:off x="10659648" y="2831894"/>
            <a:ext cx="12525650" cy="12852812"/>
          </a:xfrm>
          <a:custGeom>
            <a:avLst/>
            <a:gdLst/>
            <a:ahLst/>
            <a:cxnLst/>
            <a:rect r="r" b="b" t="t" l="l"/>
            <a:pathLst>
              <a:path h="12852812" w="12525650">
                <a:moveTo>
                  <a:pt x="0" y="0"/>
                </a:moveTo>
                <a:lnTo>
                  <a:pt x="12525649" y="0"/>
                </a:lnTo>
                <a:lnTo>
                  <a:pt x="12525649" y="12852812"/>
                </a:lnTo>
                <a:lnTo>
                  <a:pt x="0" y="128528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805786" y="-7392626"/>
            <a:ext cx="13641413" cy="13997719"/>
          </a:xfrm>
          <a:custGeom>
            <a:avLst/>
            <a:gdLst/>
            <a:ahLst/>
            <a:cxnLst/>
            <a:rect r="r" b="b" t="t" l="l"/>
            <a:pathLst>
              <a:path h="13997719" w="13641413">
                <a:moveTo>
                  <a:pt x="0" y="0"/>
                </a:moveTo>
                <a:lnTo>
                  <a:pt x="13641413" y="0"/>
                </a:lnTo>
                <a:lnTo>
                  <a:pt x="13641413" y="13997719"/>
                </a:lnTo>
                <a:lnTo>
                  <a:pt x="0" y="13997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209575" y="2412979"/>
            <a:ext cx="11520136" cy="4189490"/>
            <a:chOff x="0" y="0"/>
            <a:chExt cx="2224726" cy="8090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24726" cy="809059"/>
            </a:xfrm>
            <a:custGeom>
              <a:avLst/>
              <a:gdLst/>
              <a:ahLst/>
              <a:cxnLst/>
              <a:rect r="r" b="b" t="t" l="l"/>
              <a:pathLst>
                <a:path h="809059" w="2224726">
                  <a:moveTo>
                    <a:pt x="0" y="0"/>
                  </a:moveTo>
                  <a:lnTo>
                    <a:pt x="2224726" y="0"/>
                  </a:lnTo>
                  <a:lnTo>
                    <a:pt x="2224726" y="809059"/>
                  </a:lnTo>
                  <a:lnTo>
                    <a:pt x="0" y="809059"/>
                  </a:ln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DFBFB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224726" cy="828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442051" y="2721757"/>
            <a:ext cx="11093929" cy="3655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48"/>
              </a:lnSpc>
            </a:pPr>
            <a:r>
              <a:rPr lang="en-US" b="true" sz="7063" spc="692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SISTEMA WEB PARA LA GESTIÓN DE ALQUILER DE VEHÍCULOS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355869" y="8344038"/>
            <a:ext cx="3250682" cy="554732"/>
            <a:chOff x="0" y="0"/>
            <a:chExt cx="870410" cy="1485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70410" cy="148536"/>
            </a:xfrm>
            <a:custGeom>
              <a:avLst/>
              <a:gdLst/>
              <a:ahLst/>
              <a:cxnLst/>
              <a:rect r="r" b="b" t="t" l="l"/>
              <a:pathLst>
                <a:path h="148536" w="870410">
                  <a:moveTo>
                    <a:pt x="42869" y="0"/>
                  </a:moveTo>
                  <a:lnTo>
                    <a:pt x="827541" y="0"/>
                  </a:lnTo>
                  <a:cubicBezTo>
                    <a:pt x="851217" y="0"/>
                    <a:pt x="870410" y="19193"/>
                    <a:pt x="870410" y="42869"/>
                  </a:cubicBezTo>
                  <a:lnTo>
                    <a:pt x="870410" y="105667"/>
                  </a:lnTo>
                  <a:cubicBezTo>
                    <a:pt x="870410" y="129343"/>
                    <a:pt x="851217" y="148536"/>
                    <a:pt x="827541" y="148536"/>
                  </a:cubicBezTo>
                  <a:lnTo>
                    <a:pt x="42869" y="148536"/>
                  </a:lnTo>
                  <a:cubicBezTo>
                    <a:pt x="31500" y="148536"/>
                    <a:pt x="20596" y="144020"/>
                    <a:pt x="12556" y="135980"/>
                  </a:cubicBezTo>
                  <a:cubicBezTo>
                    <a:pt x="4517" y="127941"/>
                    <a:pt x="0" y="117037"/>
                    <a:pt x="0" y="105667"/>
                  </a:cubicBezTo>
                  <a:lnTo>
                    <a:pt x="0" y="42869"/>
                  </a:lnTo>
                  <a:cubicBezTo>
                    <a:pt x="0" y="19193"/>
                    <a:pt x="19193" y="0"/>
                    <a:pt x="42869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38125"/>
              <a:ext cx="870410" cy="3866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78"/>
                </a:lnSpc>
                <a:spcBef>
                  <a:spcPct val="0"/>
                </a:spcBef>
              </a:pPr>
              <a:r>
                <a:rPr lang="en-US" b="true" sz="2524" spc="146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Grupo 03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9055727"/>
            <a:ext cx="5905019" cy="554732"/>
            <a:chOff x="0" y="0"/>
            <a:chExt cx="1581142" cy="1485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81142" cy="148536"/>
            </a:xfrm>
            <a:custGeom>
              <a:avLst/>
              <a:gdLst/>
              <a:ahLst/>
              <a:cxnLst/>
              <a:rect r="r" b="b" t="t" l="l"/>
              <a:pathLst>
                <a:path h="148536" w="1581142">
                  <a:moveTo>
                    <a:pt x="23599" y="0"/>
                  </a:moveTo>
                  <a:lnTo>
                    <a:pt x="1557542" y="0"/>
                  </a:lnTo>
                  <a:cubicBezTo>
                    <a:pt x="1570576" y="0"/>
                    <a:pt x="1581142" y="10566"/>
                    <a:pt x="1581142" y="23599"/>
                  </a:cubicBezTo>
                  <a:lnTo>
                    <a:pt x="1581142" y="124937"/>
                  </a:lnTo>
                  <a:cubicBezTo>
                    <a:pt x="1581142" y="137970"/>
                    <a:pt x="1570576" y="148536"/>
                    <a:pt x="1557542" y="148536"/>
                  </a:cubicBezTo>
                  <a:lnTo>
                    <a:pt x="23599" y="148536"/>
                  </a:lnTo>
                  <a:cubicBezTo>
                    <a:pt x="17340" y="148536"/>
                    <a:pt x="11338" y="146050"/>
                    <a:pt x="6912" y="141624"/>
                  </a:cubicBezTo>
                  <a:cubicBezTo>
                    <a:pt x="2486" y="137198"/>
                    <a:pt x="0" y="131196"/>
                    <a:pt x="0" y="124937"/>
                  </a:cubicBezTo>
                  <a:lnTo>
                    <a:pt x="0" y="23599"/>
                  </a:lnTo>
                  <a:cubicBezTo>
                    <a:pt x="0" y="17340"/>
                    <a:pt x="2486" y="11338"/>
                    <a:pt x="6912" y="6912"/>
                  </a:cubicBezTo>
                  <a:cubicBezTo>
                    <a:pt x="11338" y="2486"/>
                    <a:pt x="17340" y="0"/>
                    <a:pt x="23599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38125"/>
              <a:ext cx="1581142" cy="3866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78"/>
                </a:lnSpc>
                <a:spcBef>
                  <a:spcPct val="0"/>
                </a:spcBef>
              </a:pPr>
              <a:r>
                <a:rPr lang="en-US" b="true" sz="2524" spc="146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Docente: Jose Luis Milla Flores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7923">
            <a:off x="-6937517" y="-8230534"/>
            <a:ext cx="13977230" cy="14342307"/>
          </a:xfrm>
          <a:custGeom>
            <a:avLst/>
            <a:gdLst/>
            <a:ahLst/>
            <a:cxnLst/>
            <a:rect r="r" b="b" t="t" l="l"/>
            <a:pathLst>
              <a:path h="14342307" w="13977230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580377">
            <a:off x="12764389" y="4378355"/>
            <a:ext cx="12102934" cy="12419055"/>
          </a:xfrm>
          <a:custGeom>
            <a:avLst/>
            <a:gdLst/>
            <a:ahLst/>
            <a:cxnLst/>
            <a:rect r="r" b="b" t="t" l="l"/>
            <a:pathLst>
              <a:path h="12419055" w="12102934">
                <a:moveTo>
                  <a:pt x="0" y="0"/>
                </a:moveTo>
                <a:lnTo>
                  <a:pt x="12102934" y="0"/>
                </a:lnTo>
                <a:lnTo>
                  <a:pt x="12102934" y="12419055"/>
                </a:lnTo>
                <a:lnTo>
                  <a:pt x="0" y="124190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3603406" y="4172509"/>
            <a:ext cx="2706695" cy="2696122"/>
            <a:chOff x="0" y="0"/>
            <a:chExt cx="6502400" cy="647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4"/>
              <a:stretch>
                <a:fillRect l="223" t="-8447" r="223" b="-8447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7759084" y="4172509"/>
            <a:ext cx="2706695" cy="2696122"/>
            <a:chOff x="0" y="0"/>
            <a:chExt cx="6502400" cy="6477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5"/>
              <a:stretch>
                <a:fillRect l="-16369" t="0" r="-16369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1913951" y="4172509"/>
            <a:ext cx="2706695" cy="2696122"/>
            <a:chOff x="0" y="0"/>
            <a:chExt cx="6502400" cy="6477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6"/>
              <a:stretch>
                <a:fillRect l="223" t="0" r="223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762906" y="2350381"/>
            <a:ext cx="10643196" cy="1243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72"/>
              </a:lnSpc>
              <a:spcBef>
                <a:spcPct val="0"/>
              </a:spcBef>
            </a:pPr>
            <a:r>
              <a:rPr lang="en-US" b="true" sz="7371" spc="722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INTEGRANTES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03750" y="7075314"/>
            <a:ext cx="2506008" cy="80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6"/>
              </a:lnSpc>
            </a:pPr>
            <a:r>
              <a:rPr lang="en-US" sz="2738" spc="136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Stefano T. Bravo Rosales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75046" y="7075341"/>
            <a:ext cx="2737907" cy="80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6"/>
              </a:lnSpc>
            </a:pPr>
            <a:r>
              <a:rPr lang="en-US" sz="2738" spc="136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Yvan Y. Sodani Almonacid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21094" y="7075314"/>
            <a:ext cx="3492410" cy="80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6"/>
              </a:lnSpc>
            </a:pPr>
            <a:r>
              <a:rPr lang="en-US" sz="2738" spc="136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Marjhorick A. Ventura Peña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560409">
            <a:off x="14595058" y="-8628620"/>
            <a:ext cx="10940099" cy="11225848"/>
          </a:xfrm>
          <a:custGeom>
            <a:avLst/>
            <a:gdLst/>
            <a:ahLst/>
            <a:cxnLst/>
            <a:rect r="r" b="b" t="t" l="l"/>
            <a:pathLst>
              <a:path h="11225848" w="10940099">
                <a:moveTo>
                  <a:pt x="0" y="0"/>
                </a:moveTo>
                <a:lnTo>
                  <a:pt x="10940099" y="0"/>
                </a:lnTo>
                <a:lnTo>
                  <a:pt x="10940099" y="11225848"/>
                </a:lnTo>
                <a:lnTo>
                  <a:pt x="0" y="112258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8318" y="1837461"/>
            <a:ext cx="8354399" cy="3354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6"/>
              </a:lnSpc>
            </a:pPr>
            <a:r>
              <a:rPr lang="en-US" sz="1953" spc="191" b="true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Actualmente, muchas empresas de alquiler de vehículos gestionan sus operaciones de manera manual o mediante herramientas poco integradas, lo que genera problemas como:</a:t>
            </a:r>
          </a:p>
          <a:p>
            <a:pPr algn="l">
              <a:lnSpc>
                <a:spcPts val="2696"/>
              </a:lnSpc>
            </a:pPr>
          </a:p>
          <a:p>
            <a:pPr algn="l" marL="421795" indent="-210898" lvl="1">
              <a:lnSpc>
                <a:spcPts val="2696"/>
              </a:lnSpc>
              <a:buFont typeface="Arial"/>
              <a:buChar char="•"/>
            </a:pPr>
            <a:r>
              <a:rPr lang="en-US" b="true" sz="1953" spc="191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Falta de control en la disponibilidad de vehículos</a:t>
            </a:r>
          </a:p>
          <a:p>
            <a:pPr algn="l" marL="421795" indent="-210898" lvl="1">
              <a:lnSpc>
                <a:spcPts val="2696"/>
              </a:lnSpc>
              <a:buFont typeface="Arial"/>
              <a:buChar char="•"/>
            </a:pPr>
            <a:r>
              <a:rPr lang="en-US" b="true" sz="1953" spc="191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Errores en el registro de alquileres</a:t>
            </a:r>
          </a:p>
          <a:p>
            <a:pPr algn="l" marL="421795" indent="-210898" lvl="1">
              <a:lnSpc>
                <a:spcPts val="2696"/>
              </a:lnSpc>
              <a:buFont typeface="Arial"/>
              <a:buChar char="•"/>
            </a:pPr>
            <a:r>
              <a:rPr lang="en-US" b="true" sz="1953" spc="191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Dificultad en el seguimiento de clientes</a:t>
            </a:r>
          </a:p>
          <a:p>
            <a:pPr algn="l" marL="421795" indent="-210898" lvl="1">
              <a:lnSpc>
                <a:spcPts val="2696"/>
              </a:lnSpc>
              <a:buFont typeface="Arial"/>
              <a:buChar char="•"/>
            </a:pPr>
            <a:r>
              <a:rPr lang="en-US" b="true" sz="1953" spc="191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Desorganización de la información</a:t>
            </a:r>
          </a:p>
          <a:p>
            <a:pPr algn="l">
              <a:lnSpc>
                <a:spcPts val="2566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223514" y="592182"/>
            <a:ext cx="5770212" cy="644625"/>
            <a:chOff x="0" y="0"/>
            <a:chExt cx="1545045" cy="1726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45045" cy="172606"/>
            </a:xfrm>
            <a:custGeom>
              <a:avLst/>
              <a:gdLst/>
              <a:ahLst/>
              <a:cxnLst/>
              <a:rect r="r" b="b" t="t" l="l"/>
              <a:pathLst>
                <a:path h="172606" w="1545045">
                  <a:moveTo>
                    <a:pt x="24151" y="0"/>
                  </a:moveTo>
                  <a:lnTo>
                    <a:pt x="1520895" y="0"/>
                  </a:lnTo>
                  <a:cubicBezTo>
                    <a:pt x="1527300" y="0"/>
                    <a:pt x="1533443" y="2544"/>
                    <a:pt x="1537972" y="7074"/>
                  </a:cubicBezTo>
                  <a:cubicBezTo>
                    <a:pt x="1542501" y="11603"/>
                    <a:pt x="1545045" y="17746"/>
                    <a:pt x="1545045" y="24151"/>
                  </a:cubicBezTo>
                  <a:lnTo>
                    <a:pt x="1545045" y="148456"/>
                  </a:lnTo>
                  <a:cubicBezTo>
                    <a:pt x="1545045" y="154861"/>
                    <a:pt x="1542501" y="161004"/>
                    <a:pt x="1537972" y="165533"/>
                  </a:cubicBezTo>
                  <a:cubicBezTo>
                    <a:pt x="1533443" y="170062"/>
                    <a:pt x="1527300" y="172606"/>
                    <a:pt x="1520895" y="172606"/>
                  </a:cubicBezTo>
                  <a:lnTo>
                    <a:pt x="24151" y="172606"/>
                  </a:lnTo>
                  <a:cubicBezTo>
                    <a:pt x="17746" y="172606"/>
                    <a:pt x="11603" y="170062"/>
                    <a:pt x="7074" y="165533"/>
                  </a:cubicBezTo>
                  <a:cubicBezTo>
                    <a:pt x="2544" y="161004"/>
                    <a:pt x="0" y="154861"/>
                    <a:pt x="0" y="148456"/>
                  </a:cubicBezTo>
                  <a:lnTo>
                    <a:pt x="0" y="24151"/>
                  </a:lnTo>
                  <a:cubicBezTo>
                    <a:pt x="0" y="17746"/>
                    <a:pt x="2544" y="11603"/>
                    <a:pt x="7074" y="7074"/>
                  </a:cubicBezTo>
                  <a:cubicBezTo>
                    <a:pt x="11603" y="2544"/>
                    <a:pt x="17746" y="0"/>
                    <a:pt x="24151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95275"/>
              <a:ext cx="1545045" cy="467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6630"/>
                </a:lnSpc>
                <a:spcBef>
                  <a:spcPct val="0"/>
                </a:spcBef>
              </a:pPr>
              <a:r>
                <a:rPr lang="en-US" b="true" sz="3000" spc="174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Realidad Problemática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34753" y="592182"/>
            <a:ext cx="5770212" cy="644625"/>
            <a:chOff x="0" y="0"/>
            <a:chExt cx="1545045" cy="1726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45045" cy="172606"/>
            </a:xfrm>
            <a:custGeom>
              <a:avLst/>
              <a:gdLst/>
              <a:ahLst/>
              <a:cxnLst/>
              <a:rect r="r" b="b" t="t" l="l"/>
              <a:pathLst>
                <a:path h="172606" w="1545045">
                  <a:moveTo>
                    <a:pt x="24151" y="0"/>
                  </a:moveTo>
                  <a:lnTo>
                    <a:pt x="1520895" y="0"/>
                  </a:lnTo>
                  <a:cubicBezTo>
                    <a:pt x="1527300" y="0"/>
                    <a:pt x="1533443" y="2544"/>
                    <a:pt x="1537972" y="7074"/>
                  </a:cubicBezTo>
                  <a:cubicBezTo>
                    <a:pt x="1542501" y="11603"/>
                    <a:pt x="1545045" y="17746"/>
                    <a:pt x="1545045" y="24151"/>
                  </a:cubicBezTo>
                  <a:lnTo>
                    <a:pt x="1545045" y="148456"/>
                  </a:lnTo>
                  <a:cubicBezTo>
                    <a:pt x="1545045" y="154861"/>
                    <a:pt x="1542501" y="161004"/>
                    <a:pt x="1537972" y="165533"/>
                  </a:cubicBezTo>
                  <a:cubicBezTo>
                    <a:pt x="1533443" y="170062"/>
                    <a:pt x="1527300" y="172606"/>
                    <a:pt x="1520895" y="172606"/>
                  </a:cubicBezTo>
                  <a:lnTo>
                    <a:pt x="24151" y="172606"/>
                  </a:lnTo>
                  <a:cubicBezTo>
                    <a:pt x="17746" y="172606"/>
                    <a:pt x="11603" y="170062"/>
                    <a:pt x="7074" y="165533"/>
                  </a:cubicBezTo>
                  <a:cubicBezTo>
                    <a:pt x="2544" y="161004"/>
                    <a:pt x="0" y="154861"/>
                    <a:pt x="0" y="148456"/>
                  </a:cubicBezTo>
                  <a:lnTo>
                    <a:pt x="0" y="24151"/>
                  </a:lnTo>
                  <a:cubicBezTo>
                    <a:pt x="0" y="17746"/>
                    <a:pt x="2544" y="11603"/>
                    <a:pt x="7074" y="7074"/>
                  </a:cubicBezTo>
                  <a:cubicBezTo>
                    <a:pt x="11603" y="2544"/>
                    <a:pt x="17746" y="0"/>
                    <a:pt x="24151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95275"/>
              <a:ext cx="1545045" cy="467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6630"/>
                </a:lnSpc>
                <a:spcBef>
                  <a:spcPct val="0"/>
                </a:spcBef>
              </a:pPr>
              <a:r>
                <a:rPr lang="en-US" b="true" sz="3000" spc="174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Justificación del Proyecto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90947" y="1831589"/>
            <a:ext cx="8606439" cy="3498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77"/>
              </a:lnSpc>
            </a:pPr>
            <a:r>
              <a:rPr lang="en-US" b="true" sz="2012" spc="197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El desarrollo de este sistema permitirá centralizar la información y automatizar los procesos relacionados con el alquiler de vehículos. Esto contribuirá a mejorar la organización, reducir errores y facilitar la toma de decisiones basada en datos actualizados.</a:t>
            </a:r>
          </a:p>
          <a:p>
            <a:pPr algn="just">
              <a:lnSpc>
                <a:spcPts val="2777"/>
              </a:lnSpc>
            </a:pPr>
            <a:r>
              <a:rPr lang="en-US" b="true" sz="2012" spc="197">
                <a:solidFill>
                  <a:srgbClr val="F2F4F5"/>
                </a:solidFill>
                <a:latin typeface="DM Sans Bold"/>
                <a:ea typeface="DM Sans Bold"/>
                <a:cs typeface="DM Sans Bold"/>
                <a:sym typeface="DM Sans Bold"/>
              </a:rPr>
              <a:t>Además, el uso de tecnologías modernas como Spring Boot y bases de datos relacionales garantiza escalabilidad, mantenibilidad y eficiencia en el sistema.</a:t>
            </a:r>
          </a:p>
          <a:p>
            <a:pPr algn="l">
              <a:lnSpc>
                <a:spcPts val="2777"/>
              </a:lnSpc>
            </a:pPr>
          </a:p>
          <a:p>
            <a:pPr algn="l">
              <a:lnSpc>
                <a:spcPts val="2643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256234" y="1612177"/>
            <a:ext cx="8556483" cy="3798051"/>
            <a:chOff x="0" y="0"/>
            <a:chExt cx="1652396" cy="7334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52396" cy="733465"/>
            </a:xfrm>
            <a:custGeom>
              <a:avLst/>
              <a:gdLst/>
              <a:ahLst/>
              <a:cxnLst/>
              <a:rect r="r" b="b" t="t" l="l"/>
              <a:pathLst>
                <a:path h="733465" w="1652396">
                  <a:moveTo>
                    <a:pt x="0" y="0"/>
                  </a:moveTo>
                  <a:lnTo>
                    <a:pt x="1652396" y="0"/>
                  </a:lnTo>
                  <a:lnTo>
                    <a:pt x="1652396" y="733465"/>
                  </a:lnTo>
                  <a:lnTo>
                    <a:pt x="0" y="733465"/>
                  </a:lnTo>
                  <a:close/>
                </a:path>
              </a:pathLst>
            </a:custGeom>
            <a:ln w="38100" cap="sq">
              <a:solidFill>
                <a:srgbClr val="FDFBFB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652396" cy="752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0" y="1625354"/>
            <a:ext cx="8900334" cy="3798051"/>
            <a:chOff x="0" y="0"/>
            <a:chExt cx="1718799" cy="7334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18799" cy="733465"/>
            </a:xfrm>
            <a:custGeom>
              <a:avLst/>
              <a:gdLst/>
              <a:ahLst/>
              <a:cxnLst/>
              <a:rect r="r" b="b" t="t" l="l"/>
              <a:pathLst>
                <a:path h="733465" w="1718799">
                  <a:moveTo>
                    <a:pt x="0" y="0"/>
                  </a:moveTo>
                  <a:lnTo>
                    <a:pt x="1718799" y="0"/>
                  </a:lnTo>
                  <a:lnTo>
                    <a:pt x="1718799" y="733465"/>
                  </a:lnTo>
                  <a:lnTo>
                    <a:pt x="0" y="733465"/>
                  </a:lnTo>
                  <a:close/>
                </a:path>
              </a:pathLst>
            </a:custGeom>
            <a:ln w="38100" cap="sq">
              <a:solidFill>
                <a:srgbClr val="FDFBFB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718799" cy="752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569" y="6797803"/>
            <a:ext cx="9034431" cy="2808103"/>
            <a:chOff x="0" y="0"/>
            <a:chExt cx="1744696" cy="5422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44696" cy="542290"/>
            </a:xfrm>
            <a:custGeom>
              <a:avLst/>
              <a:gdLst/>
              <a:ahLst/>
              <a:cxnLst/>
              <a:rect r="r" b="b" t="t" l="l"/>
              <a:pathLst>
                <a:path h="542290" w="1744696">
                  <a:moveTo>
                    <a:pt x="0" y="0"/>
                  </a:moveTo>
                  <a:lnTo>
                    <a:pt x="1744696" y="0"/>
                  </a:lnTo>
                  <a:lnTo>
                    <a:pt x="1744696" y="542290"/>
                  </a:lnTo>
                  <a:lnTo>
                    <a:pt x="0" y="542290"/>
                  </a:lnTo>
                  <a:close/>
                </a:path>
              </a:pathLst>
            </a:custGeom>
            <a:ln w="38100" cap="sq">
              <a:solidFill>
                <a:srgbClr val="FDFBFB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744696" cy="561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40760" y="7054717"/>
            <a:ext cx="8512431" cy="239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7769" indent="-213884" lvl="1">
              <a:lnSpc>
                <a:spcPts val="2734"/>
              </a:lnSpc>
              <a:buFont typeface="Arial"/>
              <a:buChar char="•"/>
            </a:pPr>
            <a:r>
              <a:rPr lang="en-US" sz="1981" spc="194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Analizar y definir los requisitos del sistema </a:t>
            </a:r>
          </a:p>
          <a:p>
            <a:pPr algn="l" marL="427769" indent="-213884" lvl="1">
              <a:lnSpc>
                <a:spcPts val="2734"/>
              </a:lnSpc>
              <a:buFont typeface="Arial"/>
              <a:buChar char="•"/>
            </a:pPr>
            <a:r>
              <a:rPr lang="en-US" sz="1981" spc="194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Diseñar la base de datos relacional Implementar un backend con Spring Boot </a:t>
            </a:r>
          </a:p>
          <a:p>
            <a:pPr algn="l" marL="427769" indent="-213884" lvl="1">
              <a:lnSpc>
                <a:spcPts val="2734"/>
              </a:lnSpc>
              <a:buFont typeface="Arial"/>
              <a:buChar char="•"/>
            </a:pPr>
            <a:r>
              <a:rPr lang="en-US" sz="1981" spc="194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Desarrollar operaciones CRUD </a:t>
            </a:r>
          </a:p>
          <a:p>
            <a:pPr algn="l" marL="427769" indent="-213884" lvl="1">
              <a:lnSpc>
                <a:spcPts val="2734"/>
              </a:lnSpc>
              <a:buFont typeface="Arial"/>
              <a:buChar char="•"/>
            </a:pPr>
            <a:r>
              <a:rPr lang="en-US" sz="1981" spc="194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Validar reglas de negocio (disponibilidad, fechas, etc.) Aplicar buenas prácticas de desarrollo </a:t>
            </a:r>
          </a:p>
          <a:p>
            <a:pPr algn="l" marL="427769" indent="-213884" lvl="1">
              <a:lnSpc>
                <a:spcPts val="2734"/>
              </a:lnSpc>
              <a:buFont typeface="Arial"/>
              <a:buChar char="•"/>
            </a:pPr>
            <a:r>
              <a:rPr lang="en-US" sz="1981" spc="194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Realizar pruebas básicas del sistema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23514" y="5781703"/>
            <a:ext cx="5770212" cy="644625"/>
            <a:chOff x="0" y="0"/>
            <a:chExt cx="1545045" cy="17260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45045" cy="172606"/>
            </a:xfrm>
            <a:custGeom>
              <a:avLst/>
              <a:gdLst/>
              <a:ahLst/>
              <a:cxnLst/>
              <a:rect r="r" b="b" t="t" l="l"/>
              <a:pathLst>
                <a:path h="172606" w="1545045">
                  <a:moveTo>
                    <a:pt x="24151" y="0"/>
                  </a:moveTo>
                  <a:lnTo>
                    <a:pt x="1520895" y="0"/>
                  </a:lnTo>
                  <a:cubicBezTo>
                    <a:pt x="1527300" y="0"/>
                    <a:pt x="1533443" y="2544"/>
                    <a:pt x="1537972" y="7074"/>
                  </a:cubicBezTo>
                  <a:cubicBezTo>
                    <a:pt x="1542501" y="11603"/>
                    <a:pt x="1545045" y="17746"/>
                    <a:pt x="1545045" y="24151"/>
                  </a:cubicBezTo>
                  <a:lnTo>
                    <a:pt x="1545045" y="148456"/>
                  </a:lnTo>
                  <a:cubicBezTo>
                    <a:pt x="1545045" y="154861"/>
                    <a:pt x="1542501" y="161004"/>
                    <a:pt x="1537972" y="165533"/>
                  </a:cubicBezTo>
                  <a:cubicBezTo>
                    <a:pt x="1533443" y="170062"/>
                    <a:pt x="1527300" y="172606"/>
                    <a:pt x="1520895" y="172606"/>
                  </a:cubicBezTo>
                  <a:lnTo>
                    <a:pt x="24151" y="172606"/>
                  </a:lnTo>
                  <a:cubicBezTo>
                    <a:pt x="17746" y="172606"/>
                    <a:pt x="11603" y="170062"/>
                    <a:pt x="7074" y="165533"/>
                  </a:cubicBezTo>
                  <a:cubicBezTo>
                    <a:pt x="2544" y="161004"/>
                    <a:pt x="0" y="154861"/>
                    <a:pt x="0" y="148456"/>
                  </a:cubicBezTo>
                  <a:lnTo>
                    <a:pt x="0" y="24151"/>
                  </a:lnTo>
                  <a:cubicBezTo>
                    <a:pt x="0" y="17746"/>
                    <a:pt x="2544" y="11603"/>
                    <a:pt x="7074" y="7074"/>
                  </a:cubicBezTo>
                  <a:cubicBezTo>
                    <a:pt x="11603" y="2544"/>
                    <a:pt x="17746" y="0"/>
                    <a:pt x="24151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95275"/>
              <a:ext cx="1545045" cy="467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6630"/>
                </a:lnSpc>
                <a:spcBef>
                  <a:spcPct val="0"/>
                </a:spcBef>
              </a:pPr>
              <a:r>
                <a:rPr lang="en-US" b="true" sz="3000" spc="174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Objetivos específicos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877411" y="6052055"/>
            <a:ext cx="5770212" cy="644625"/>
            <a:chOff x="0" y="0"/>
            <a:chExt cx="1545045" cy="17260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45045" cy="172606"/>
            </a:xfrm>
            <a:custGeom>
              <a:avLst/>
              <a:gdLst/>
              <a:ahLst/>
              <a:cxnLst/>
              <a:rect r="r" b="b" t="t" l="l"/>
              <a:pathLst>
                <a:path h="172606" w="1545045">
                  <a:moveTo>
                    <a:pt x="24151" y="0"/>
                  </a:moveTo>
                  <a:lnTo>
                    <a:pt x="1520895" y="0"/>
                  </a:lnTo>
                  <a:cubicBezTo>
                    <a:pt x="1527300" y="0"/>
                    <a:pt x="1533443" y="2544"/>
                    <a:pt x="1537972" y="7074"/>
                  </a:cubicBezTo>
                  <a:cubicBezTo>
                    <a:pt x="1542501" y="11603"/>
                    <a:pt x="1545045" y="17746"/>
                    <a:pt x="1545045" y="24151"/>
                  </a:cubicBezTo>
                  <a:lnTo>
                    <a:pt x="1545045" y="148456"/>
                  </a:lnTo>
                  <a:cubicBezTo>
                    <a:pt x="1545045" y="154861"/>
                    <a:pt x="1542501" y="161004"/>
                    <a:pt x="1537972" y="165533"/>
                  </a:cubicBezTo>
                  <a:cubicBezTo>
                    <a:pt x="1533443" y="170062"/>
                    <a:pt x="1527300" y="172606"/>
                    <a:pt x="1520895" y="172606"/>
                  </a:cubicBezTo>
                  <a:lnTo>
                    <a:pt x="24151" y="172606"/>
                  </a:lnTo>
                  <a:cubicBezTo>
                    <a:pt x="17746" y="172606"/>
                    <a:pt x="11603" y="170062"/>
                    <a:pt x="7074" y="165533"/>
                  </a:cubicBezTo>
                  <a:cubicBezTo>
                    <a:pt x="2544" y="161004"/>
                    <a:pt x="0" y="154861"/>
                    <a:pt x="0" y="148456"/>
                  </a:cubicBezTo>
                  <a:lnTo>
                    <a:pt x="0" y="24151"/>
                  </a:lnTo>
                  <a:cubicBezTo>
                    <a:pt x="0" y="17746"/>
                    <a:pt x="2544" y="11603"/>
                    <a:pt x="7074" y="7074"/>
                  </a:cubicBezTo>
                  <a:cubicBezTo>
                    <a:pt x="11603" y="2544"/>
                    <a:pt x="17746" y="0"/>
                    <a:pt x="24151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95275"/>
              <a:ext cx="1545045" cy="467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6630"/>
                </a:lnSpc>
                <a:spcBef>
                  <a:spcPct val="0"/>
                </a:spcBef>
              </a:pPr>
              <a:r>
                <a:rPr lang="en-US" b="true" sz="3000" spc="174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Objetivos generales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445953" y="7092817"/>
            <a:ext cx="8414804" cy="1467663"/>
            <a:chOff x="0" y="0"/>
            <a:chExt cx="1625036" cy="28343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25036" cy="283430"/>
            </a:xfrm>
            <a:custGeom>
              <a:avLst/>
              <a:gdLst/>
              <a:ahLst/>
              <a:cxnLst/>
              <a:rect r="r" b="b" t="t" l="l"/>
              <a:pathLst>
                <a:path h="283430" w="1625036">
                  <a:moveTo>
                    <a:pt x="0" y="0"/>
                  </a:moveTo>
                  <a:lnTo>
                    <a:pt x="1625036" y="0"/>
                  </a:lnTo>
                  <a:lnTo>
                    <a:pt x="1625036" y="283430"/>
                  </a:lnTo>
                  <a:lnTo>
                    <a:pt x="0" y="283430"/>
                  </a:lnTo>
                  <a:close/>
                </a:path>
              </a:pathLst>
            </a:custGeom>
            <a:ln w="38100" cap="sq">
              <a:solidFill>
                <a:srgbClr val="FDFBFB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1625036" cy="302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754430" y="7349731"/>
            <a:ext cx="8289904" cy="1017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4"/>
              </a:lnSpc>
            </a:pPr>
            <a:r>
              <a:rPr lang="en-US" sz="1981" spc="194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Desarrollar un sistema web para la gestión de alquiler de vehículos que permita administrar eficientemente la información de clientes, vehículos y alquileres.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323035">
            <a:off x="-6880257" y="7705995"/>
            <a:ext cx="8491989" cy="8713794"/>
          </a:xfrm>
          <a:custGeom>
            <a:avLst/>
            <a:gdLst/>
            <a:ahLst/>
            <a:cxnLst/>
            <a:rect r="r" b="b" t="t" l="l"/>
            <a:pathLst>
              <a:path h="8713794" w="8491989">
                <a:moveTo>
                  <a:pt x="0" y="0"/>
                </a:moveTo>
                <a:lnTo>
                  <a:pt x="8491989" y="0"/>
                </a:lnTo>
                <a:lnTo>
                  <a:pt x="8491989" y="8713795"/>
                </a:lnTo>
                <a:lnTo>
                  <a:pt x="0" y="8713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59121">
            <a:off x="14984685" y="-5268083"/>
            <a:ext cx="10940099" cy="11225848"/>
          </a:xfrm>
          <a:custGeom>
            <a:avLst/>
            <a:gdLst/>
            <a:ahLst/>
            <a:cxnLst/>
            <a:rect r="r" b="b" t="t" l="l"/>
            <a:pathLst>
              <a:path h="11225848" w="10940099">
                <a:moveTo>
                  <a:pt x="0" y="0"/>
                </a:moveTo>
                <a:lnTo>
                  <a:pt x="10940099" y="0"/>
                </a:lnTo>
                <a:lnTo>
                  <a:pt x="10940099" y="11225848"/>
                </a:lnTo>
                <a:lnTo>
                  <a:pt x="0" y="112258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223443" y="2431318"/>
            <a:ext cx="9006606" cy="134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82"/>
              </a:lnSpc>
            </a:pPr>
            <a:r>
              <a:rPr lang="en-US" b="true" sz="8030" spc="78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MARCO TEÓRICO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783164" y="1225324"/>
            <a:ext cx="8574029" cy="3201580"/>
            <a:chOff x="0" y="0"/>
            <a:chExt cx="1655784" cy="6182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55784" cy="618277"/>
            </a:xfrm>
            <a:custGeom>
              <a:avLst/>
              <a:gdLst/>
              <a:ahLst/>
              <a:cxnLst/>
              <a:rect r="r" b="b" t="t" l="l"/>
              <a:pathLst>
                <a:path h="618277" w="1655784">
                  <a:moveTo>
                    <a:pt x="0" y="0"/>
                  </a:moveTo>
                  <a:lnTo>
                    <a:pt x="1655784" y="0"/>
                  </a:lnTo>
                  <a:lnTo>
                    <a:pt x="1655784" y="618277"/>
                  </a:lnTo>
                  <a:lnTo>
                    <a:pt x="0" y="618277"/>
                  </a:lnTo>
                  <a:close/>
                </a:path>
              </a:pathLst>
            </a:custGeom>
            <a:ln w="38100" cap="sq">
              <a:solidFill>
                <a:srgbClr val="FDFBFB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655784" cy="637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067288" y="1360480"/>
            <a:ext cx="8289904" cy="3066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4"/>
              </a:lnSpc>
            </a:pPr>
            <a:r>
              <a:rPr lang="en-US" sz="1981" spc="194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El proyecto se basa en conceptos de desarrollo de software como:</a:t>
            </a:r>
          </a:p>
          <a:p>
            <a:pPr algn="l">
              <a:lnSpc>
                <a:spcPts val="2734"/>
              </a:lnSpc>
            </a:pPr>
            <a:r>
              <a:rPr lang="en-US" sz="1981" spc="194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Arquitectura REST Programación orientada a objetos Persistencia de datos con JPA/Hibernate Bases de datos relacionales Principios de desarrollo backend con Spring Boot</a:t>
            </a:r>
          </a:p>
          <a:p>
            <a:pPr algn="l">
              <a:lnSpc>
                <a:spcPts val="2734"/>
              </a:lnSpc>
            </a:pPr>
            <a:r>
              <a:rPr lang="en-US" sz="1981" spc="194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Estos conceptos permiten construir sistemas escalables, mantenibles y eficientes.</a:t>
            </a:r>
          </a:p>
          <a:p>
            <a:pPr algn="l">
              <a:lnSpc>
                <a:spcPts val="273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5876254"/>
            <a:ext cx="9006606" cy="134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82"/>
              </a:lnSpc>
            </a:pPr>
            <a:r>
              <a:rPr lang="en-US" b="true" sz="8030" spc="78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METODOLOGÍA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69971" y="5625919"/>
            <a:ext cx="8574029" cy="3543093"/>
            <a:chOff x="0" y="0"/>
            <a:chExt cx="1655784" cy="6842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55784" cy="684229"/>
            </a:xfrm>
            <a:custGeom>
              <a:avLst/>
              <a:gdLst/>
              <a:ahLst/>
              <a:cxnLst/>
              <a:rect r="r" b="b" t="t" l="l"/>
              <a:pathLst>
                <a:path h="684229" w="1655784">
                  <a:moveTo>
                    <a:pt x="0" y="0"/>
                  </a:moveTo>
                  <a:lnTo>
                    <a:pt x="1655784" y="0"/>
                  </a:lnTo>
                  <a:lnTo>
                    <a:pt x="1655784" y="684229"/>
                  </a:lnTo>
                  <a:lnTo>
                    <a:pt x="0" y="684229"/>
                  </a:lnTo>
                  <a:close/>
                </a:path>
              </a:pathLst>
            </a:custGeom>
            <a:ln w="38100" cap="sq">
              <a:solidFill>
                <a:srgbClr val="FDFBFB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655784" cy="7032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54096" y="5761074"/>
            <a:ext cx="8289904" cy="3407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4"/>
              </a:lnSpc>
            </a:pPr>
            <a:r>
              <a:rPr lang="en-US" sz="1981" spc="194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Se aplicará la metodología Test-Driven Development (TDD), la cual consiste en:</a:t>
            </a:r>
          </a:p>
          <a:p>
            <a:pPr algn="l">
              <a:lnSpc>
                <a:spcPts val="2734"/>
              </a:lnSpc>
            </a:pPr>
          </a:p>
          <a:p>
            <a:pPr algn="l" marL="427768" indent="-213884" lvl="1">
              <a:lnSpc>
                <a:spcPts val="2734"/>
              </a:lnSpc>
              <a:buFont typeface="Arial"/>
              <a:buChar char="•"/>
            </a:pPr>
            <a:r>
              <a:rPr lang="en-US" sz="1981" spc="194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Escribir pruebas unitarias</a:t>
            </a:r>
          </a:p>
          <a:p>
            <a:pPr algn="l" marL="427768" indent="-213884" lvl="1">
              <a:lnSpc>
                <a:spcPts val="2734"/>
              </a:lnSpc>
              <a:buFont typeface="Arial"/>
              <a:buChar char="•"/>
            </a:pPr>
            <a:r>
              <a:rPr lang="en-US" sz="1981" spc="194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Implementar el código mínimo necesario</a:t>
            </a:r>
          </a:p>
          <a:p>
            <a:pPr algn="l" marL="427768" indent="-213884" lvl="1">
              <a:lnSpc>
                <a:spcPts val="2734"/>
              </a:lnSpc>
              <a:buFont typeface="Arial"/>
              <a:buChar char="•"/>
            </a:pPr>
            <a:r>
              <a:rPr lang="en-US" sz="1981" spc="194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Refactorizar manteniendo las pruebas exitosas</a:t>
            </a:r>
          </a:p>
          <a:p>
            <a:pPr algn="l">
              <a:lnSpc>
                <a:spcPts val="2734"/>
              </a:lnSpc>
            </a:pPr>
          </a:p>
          <a:p>
            <a:pPr algn="l">
              <a:lnSpc>
                <a:spcPts val="2734"/>
              </a:lnSpc>
            </a:pPr>
            <a:r>
              <a:rPr lang="en-US" sz="1981" spc="194">
                <a:solidFill>
                  <a:srgbClr val="F2F4F5"/>
                </a:solidFill>
                <a:latin typeface="DM Sans"/>
                <a:ea typeface="DM Sans"/>
                <a:cs typeface="DM Sans"/>
                <a:sym typeface="DM Sans"/>
              </a:rPr>
              <a:t>Esto permite asegurar la calidad del software desde las primeras etapas de desarrollo.</a:t>
            </a:r>
          </a:p>
          <a:p>
            <a:pPr algn="l">
              <a:lnSpc>
                <a:spcPts val="2734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2669327" y="7484093"/>
            <a:ext cx="1835290" cy="1835290"/>
          </a:xfrm>
          <a:custGeom>
            <a:avLst/>
            <a:gdLst/>
            <a:ahLst/>
            <a:cxnLst/>
            <a:rect r="r" b="b" t="t" l="l"/>
            <a:pathLst>
              <a:path h="1835290" w="1835290">
                <a:moveTo>
                  <a:pt x="0" y="0"/>
                </a:moveTo>
                <a:lnTo>
                  <a:pt x="1835290" y="0"/>
                </a:lnTo>
                <a:lnTo>
                  <a:pt x="1835290" y="1835290"/>
                </a:lnTo>
                <a:lnTo>
                  <a:pt x="0" y="18352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142452" y="7996049"/>
            <a:ext cx="889040" cy="902163"/>
          </a:xfrm>
          <a:custGeom>
            <a:avLst/>
            <a:gdLst/>
            <a:ahLst/>
            <a:cxnLst/>
            <a:rect r="r" b="b" t="t" l="l"/>
            <a:pathLst>
              <a:path h="902163" w="889040">
                <a:moveTo>
                  <a:pt x="0" y="0"/>
                </a:moveTo>
                <a:lnTo>
                  <a:pt x="889040" y="0"/>
                </a:lnTo>
                <a:lnTo>
                  <a:pt x="889040" y="902163"/>
                </a:lnTo>
                <a:lnTo>
                  <a:pt x="0" y="9021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021696" y="534564"/>
            <a:ext cx="1835290" cy="1835290"/>
          </a:xfrm>
          <a:custGeom>
            <a:avLst/>
            <a:gdLst/>
            <a:ahLst/>
            <a:cxnLst/>
            <a:rect r="r" b="b" t="t" l="l"/>
            <a:pathLst>
              <a:path h="1835290" w="1835290">
                <a:moveTo>
                  <a:pt x="0" y="0"/>
                </a:moveTo>
                <a:lnTo>
                  <a:pt x="1835290" y="0"/>
                </a:lnTo>
                <a:lnTo>
                  <a:pt x="1835290" y="1835291"/>
                </a:lnTo>
                <a:lnTo>
                  <a:pt x="0" y="18352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456885" y="914616"/>
            <a:ext cx="960682" cy="1052540"/>
          </a:xfrm>
          <a:custGeom>
            <a:avLst/>
            <a:gdLst/>
            <a:ahLst/>
            <a:cxnLst/>
            <a:rect r="r" b="b" t="t" l="l"/>
            <a:pathLst>
              <a:path h="1052540" w="960682">
                <a:moveTo>
                  <a:pt x="0" y="0"/>
                </a:moveTo>
                <a:lnTo>
                  <a:pt x="960683" y="0"/>
                </a:lnTo>
                <a:lnTo>
                  <a:pt x="960683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74235" y="3673321"/>
            <a:ext cx="1156649" cy="1173721"/>
          </a:xfrm>
          <a:custGeom>
            <a:avLst/>
            <a:gdLst/>
            <a:ahLst/>
            <a:cxnLst/>
            <a:rect r="r" b="b" t="t" l="l"/>
            <a:pathLst>
              <a:path h="1173721" w="1156649">
                <a:moveTo>
                  <a:pt x="0" y="0"/>
                </a:moveTo>
                <a:lnTo>
                  <a:pt x="1156649" y="0"/>
                </a:lnTo>
                <a:lnTo>
                  <a:pt x="1156649" y="1173721"/>
                </a:lnTo>
                <a:lnTo>
                  <a:pt x="0" y="11737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8724" y="717779"/>
            <a:ext cx="14023228" cy="8694401"/>
          </a:xfrm>
          <a:custGeom>
            <a:avLst/>
            <a:gdLst/>
            <a:ahLst/>
            <a:cxnLst/>
            <a:rect r="r" b="b" t="t" l="l"/>
            <a:pathLst>
              <a:path h="8694401" w="14023228">
                <a:moveTo>
                  <a:pt x="0" y="0"/>
                </a:moveTo>
                <a:lnTo>
                  <a:pt x="14023227" y="0"/>
                </a:lnTo>
                <a:lnTo>
                  <a:pt x="14023227" y="8694401"/>
                </a:lnTo>
                <a:lnTo>
                  <a:pt x="0" y="86944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74235" y="3673321"/>
            <a:ext cx="1156649" cy="1173721"/>
          </a:xfrm>
          <a:custGeom>
            <a:avLst/>
            <a:gdLst/>
            <a:ahLst/>
            <a:cxnLst/>
            <a:rect r="r" b="b" t="t" l="l"/>
            <a:pathLst>
              <a:path h="1173721" w="1156649">
                <a:moveTo>
                  <a:pt x="0" y="0"/>
                </a:moveTo>
                <a:lnTo>
                  <a:pt x="1156649" y="0"/>
                </a:lnTo>
                <a:lnTo>
                  <a:pt x="1156649" y="1173721"/>
                </a:lnTo>
                <a:lnTo>
                  <a:pt x="0" y="11737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13847" y="2272805"/>
            <a:ext cx="9260307" cy="5741390"/>
          </a:xfrm>
          <a:custGeom>
            <a:avLst/>
            <a:gdLst/>
            <a:ahLst/>
            <a:cxnLst/>
            <a:rect r="r" b="b" t="t" l="l"/>
            <a:pathLst>
              <a:path h="5741390" w="9260307">
                <a:moveTo>
                  <a:pt x="0" y="0"/>
                </a:moveTo>
                <a:lnTo>
                  <a:pt x="9260306" y="0"/>
                </a:lnTo>
                <a:lnTo>
                  <a:pt x="9260306" y="5741390"/>
                </a:lnTo>
                <a:lnTo>
                  <a:pt x="0" y="5741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4620" y="1028700"/>
            <a:ext cx="14099073" cy="9093902"/>
          </a:xfrm>
          <a:custGeom>
            <a:avLst/>
            <a:gdLst/>
            <a:ahLst/>
            <a:cxnLst/>
            <a:rect r="r" b="b" t="t" l="l"/>
            <a:pathLst>
              <a:path h="9093902" w="14099073">
                <a:moveTo>
                  <a:pt x="0" y="0"/>
                </a:moveTo>
                <a:lnTo>
                  <a:pt x="14099073" y="0"/>
                </a:lnTo>
                <a:lnTo>
                  <a:pt x="14099073" y="9093902"/>
                </a:lnTo>
                <a:lnTo>
                  <a:pt x="0" y="90939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74235" y="3673321"/>
            <a:ext cx="1156649" cy="1173721"/>
          </a:xfrm>
          <a:custGeom>
            <a:avLst/>
            <a:gdLst/>
            <a:ahLst/>
            <a:cxnLst/>
            <a:rect r="r" b="b" t="t" l="l"/>
            <a:pathLst>
              <a:path h="1173721" w="1156649">
                <a:moveTo>
                  <a:pt x="0" y="0"/>
                </a:moveTo>
                <a:lnTo>
                  <a:pt x="1156649" y="0"/>
                </a:lnTo>
                <a:lnTo>
                  <a:pt x="1156649" y="1173721"/>
                </a:lnTo>
                <a:lnTo>
                  <a:pt x="0" y="11737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3772" y="596549"/>
            <a:ext cx="14099073" cy="9093902"/>
          </a:xfrm>
          <a:custGeom>
            <a:avLst/>
            <a:gdLst/>
            <a:ahLst/>
            <a:cxnLst/>
            <a:rect r="r" b="b" t="t" l="l"/>
            <a:pathLst>
              <a:path h="9093902" w="14099073">
                <a:moveTo>
                  <a:pt x="0" y="0"/>
                </a:moveTo>
                <a:lnTo>
                  <a:pt x="14099073" y="0"/>
                </a:lnTo>
                <a:lnTo>
                  <a:pt x="14099073" y="9093902"/>
                </a:lnTo>
                <a:lnTo>
                  <a:pt x="0" y="9093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74235" y="3673321"/>
            <a:ext cx="1156649" cy="1173721"/>
          </a:xfrm>
          <a:custGeom>
            <a:avLst/>
            <a:gdLst/>
            <a:ahLst/>
            <a:cxnLst/>
            <a:rect r="r" b="b" t="t" l="l"/>
            <a:pathLst>
              <a:path h="1173721" w="1156649">
                <a:moveTo>
                  <a:pt x="0" y="0"/>
                </a:moveTo>
                <a:lnTo>
                  <a:pt x="1156649" y="0"/>
                </a:lnTo>
                <a:lnTo>
                  <a:pt x="1156649" y="1173721"/>
                </a:lnTo>
                <a:lnTo>
                  <a:pt x="0" y="11737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8181" y="1714691"/>
            <a:ext cx="17471637" cy="6857618"/>
          </a:xfrm>
          <a:custGeom>
            <a:avLst/>
            <a:gdLst/>
            <a:ahLst/>
            <a:cxnLst/>
            <a:rect r="r" b="b" t="t" l="l"/>
            <a:pathLst>
              <a:path h="6857618" w="17471637">
                <a:moveTo>
                  <a:pt x="0" y="0"/>
                </a:moveTo>
                <a:lnTo>
                  <a:pt x="17471638" y="0"/>
                </a:lnTo>
                <a:lnTo>
                  <a:pt x="17471638" y="6857618"/>
                </a:lnTo>
                <a:lnTo>
                  <a:pt x="0" y="68576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10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35030" y="3549362"/>
            <a:ext cx="13617940" cy="324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15"/>
              </a:lnSpc>
            </a:pPr>
            <a:r>
              <a:rPr lang="en-US" b="true" sz="9431" spc="924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MUCHAS </a:t>
            </a:r>
          </a:p>
          <a:p>
            <a:pPr algn="ctr" marL="0" indent="0" lvl="0">
              <a:lnSpc>
                <a:spcPts val="13015"/>
              </a:lnSpc>
              <a:spcBef>
                <a:spcPct val="0"/>
              </a:spcBef>
            </a:pPr>
            <a:r>
              <a:rPr lang="en-US" b="true" sz="9431" spc="924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GRACIAS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DAHIJ-lIQQo</dc:identifier>
  <dcterms:modified xsi:type="dcterms:W3CDTF">2011-08-01T06:04:30Z</dcterms:modified>
  <cp:revision>1</cp:revision>
  <dc:title>propuesta de</dc:title>
</cp:coreProperties>
</file>